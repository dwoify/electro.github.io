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7" r:id="rId3"/>
    <p:sldId id="276" r:id="rId4"/>
    <p:sldId id="257" r:id="rId5"/>
    <p:sldId id="259" r:id="rId6"/>
    <p:sldId id="260" r:id="rId7"/>
    <p:sldId id="261" r:id="rId8"/>
    <p:sldId id="262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66" r:id="rId18"/>
  </p:sldIdLst>
  <p:sldSz cx="14630400" cy="8229600"/>
  <p:notesSz cx="8229600" cy="14630400"/>
  <p:embeddedFontLst>
    <p:embeddedFont>
      <p:font typeface="DM Sans Medium" pitchFamily="2" charset="0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Целевая аудитория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F05E-485F-B519-769EFDCE5038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F05E-485F-B519-769EFDCE5038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F05E-485F-B519-769EFDCE5038}"/>
              </c:ext>
            </c:extLst>
          </c:dPt>
          <c:cat>
            <c:strRef>
              <c:f>Лист1!$A$2:$A$4</c:f>
              <c:strCache>
                <c:ptCount val="3"/>
                <c:pt idx="0">
                  <c:v>Частные покупатели</c:v>
                </c:pt>
                <c:pt idx="1">
                  <c:v>Проффисианналы</c:v>
                </c:pt>
                <c:pt idx="2">
                  <c:v>Оптовые клиенты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12</c:v>
                </c:pt>
                <c:pt idx="1">
                  <c:v>16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1E-436F-8E05-4EC750B9AA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71882" y="1948696"/>
            <a:ext cx="7556421" cy="297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Разработки, продвижение и оптимизация интернет-магазина по продаже электротоваров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71882" y="5265896"/>
            <a:ext cx="7556421" cy="1282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Курсовой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проект</a:t>
            </a: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.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С</a:t>
            </a:r>
            <a:r>
              <a:rPr lang="en-US" sz="17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тудент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</a:t>
            </a: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группы Ир5-22 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Глазырин Антон </a:t>
            </a:r>
            <a:r>
              <a:rPr lang="en-US" sz="17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Александрович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.</a:t>
            </a:r>
            <a:endParaRPr lang="ru-RU" sz="1750" dirty="0">
              <a:solidFill>
                <a:srgbClr val="383838"/>
              </a:solidFill>
              <a:latin typeface="Times New Roman" panose="02020603050405020304" pitchFamily="18" charset="0"/>
              <a:ea typeface="DM San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Федорова Л.В.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5443" y="6033492"/>
            <a:ext cx="112395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АГ</a:t>
            </a:r>
            <a:endParaRPr lang="en-US" sz="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14E8F93-CFCA-47EA-897F-8AFEA9431686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09A500-27D3-4F69-A7DF-5C4088741FA5}"/>
              </a:ext>
            </a:extLst>
          </p:cNvPr>
          <p:cNvSpPr/>
          <p:nvPr/>
        </p:nvSpPr>
        <p:spPr>
          <a:xfrm>
            <a:off x="384856" y="331687"/>
            <a:ext cx="10125313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A6570B1C-4FAE-44A8-9E9F-6418814B8FC7}"/>
              </a:ext>
            </a:extLst>
          </p:cNvPr>
          <p:cNvSpPr/>
          <p:nvPr/>
        </p:nvSpPr>
        <p:spPr>
          <a:xfrm>
            <a:off x="384855" y="1380410"/>
            <a:ext cx="11631553" cy="582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При разработке интерфейсов важно учитывать удобство и понятность для клиентов. Сайт должен содержать интуитивно понятную навигацию, чёткое описание услуг и простую форму заявки. Дизайн лучше делать минималистичным, с акцентами на ключевые элементы, такие как контакты и кнопки.</a:t>
            </a:r>
          </a:p>
          <a:p>
            <a:pPr marL="0" indent="0" algn="l">
              <a:lnSpc>
                <a:spcPts val="2850"/>
              </a:lnSpc>
              <a:buNone/>
            </a:pPr>
            <a:endParaRPr lang="ru-RU" sz="1750" dirty="0">
              <a:solidFill>
                <a:srgbClr val="383838"/>
              </a:solidFill>
              <a:latin typeface="Times New Roman" panose="02020603050405020304" pitchFamily="18" charset="0"/>
              <a:ea typeface="DM Sans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83D28C6-BFFF-400B-872D-FCA528029C7E}"/>
              </a:ext>
            </a:extLst>
          </p:cNvPr>
          <p:cNvSpPr/>
          <p:nvPr/>
        </p:nvSpPr>
        <p:spPr>
          <a:xfrm>
            <a:off x="384856" y="3070062"/>
            <a:ext cx="9856802" cy="582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Особое внимание стоит уделить адаптивности под мобильные устройства, так как многие пользователи могут обращаться к сайту с телефонов..</a:t>
            </a:r>
          </a:p>
          <a:p>
            <a:pPr marL="0" indent="0" algn="l">
              <a:lnSpc>
                <a:spcPts val="2850"/>
              </a:lnSpc>
              <a:buNone/>
            </a:pPr>
            <a:endParaRPr lang="ru-RU" sz="1750" dirty="0">
              <a:solidFill>
                <a:srgbClr val="383838"/>
              </a:solidFill>
              <a:latin typeface="Times New Roman" panose="02020603050405020304" pitchFamily="18" charset="0"/>
              <a:ea typeface="DM Sans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0C93A6-A2AD-472D-9EA8-76AB7EB2C5AB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74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488371B-4473-4A77-901D-0960B7898651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86FA8F1-0D64-48EC-ADD1-56194E425F5D}"/>
              </a:ext>
            </a:extLst>
          </p:cNvPr>
          <p:cNvSpPr/>
          <p:nvPr/>
        </p:nvSpPr>
        <p:spPr>
          <a:xfrm>
            <a:off x="384856" y="331687"/>
            <a:ext cx="10125313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курсового проекта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D47BA08-A162-47E2-BD1F-A78E810C1CAD}"/>
              </a:ext>
            </a:extLst>
          </p:cNvPr>
          <p:cNvSpPr/>
          <p:nvPr/>
        </p:nvSpPr>
        <p:spPr>
          <a:xfrm>
            <a:off x="384855" y="1380410"/>
            <a:ext cx="11631553" cy="582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знакомиться с основными правилами и рекомендациями по разработке и созданию веб-сайтов;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сайты конкурентов;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согласовать техническое задание;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пользовательский интерфейс и макеты страниц сайта;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проектирование интернет-магазина бытовых приборов;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всех функций интернет-магазина.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ru-RU" sz="1750" dirty="0">
              <a:solidFill>
                <a:srgbClr val="383838"/>
              </a:solidFill>
              <a:latin typeface="Times New Roman" panose="02020603050405020304" pitchFamily="18" charset="0"/>
              <a:ea typeface="DM Sans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6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2361" y="1416553"/>
            <a:ext cx="10125313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Актуальность и содержание проекта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2361" y="2578925"/>
            <a:ext cx="29715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Актуальность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2361" y="3086132"/>
            <a:ext cx="5645706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Электротехника востребована у профессионалов и частных лиц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56646" y="2578925"/>
            <a:ext cx="29715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Цель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56646" y="3086132"/>
            <a:ext cx="5645706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Разобраться в ассортименте и технических характеристиках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2361" y="4341289"/>
            <a:ext cx="29715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Польза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2361" y="4848495"/>
            <a:ext cx="5645706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Полезен клиентам и специалистам для выбора и знаний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456646" y="4341289"/>
            <a:ext cx="29715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Содержание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456646" y="4848495"/>
            <a:ext cx="5645706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Введение, анализ, проектирование, </a:t>
            </a:r>
            <a:r>
              <a:rPr lang="en-US" sz="17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разработка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5C3DC6E-D3B1-4183-A614-33064101F31B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03394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Целевая аудитория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17306" y="3196233"/>
            <a:ext cx="28994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Частные покупатели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17306" y="3704392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Домашние мастера, ценят качество и отзывы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37319" y="3196233"/>
            <a:ext cx="28994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Профессионалы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37319" y="3704392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Электрики, монтажники, важны характеристики и быстрый заказ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17306" y="532459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Оптовые клиенты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17306" y="583275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Строительные компании, важна сертификация и поставки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9FC6B02-9440-4C08-8457-1B4B0B0CF26D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451A5961-FB1D-4C0B-9C81-65DFDAAAD4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3603526"/>
              </p:ext>
            </p:extLst>
          </p:nvPr>
        </p:nvGraphicFramePr>
        <p:xfrm>
          <a:off x="304860" y="1062703"/>
          <a:ext cx="6712446" cy="6372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41910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Анализ конкурентов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30" y="17303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Электромаркет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30" y="232922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Категории товаров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30" y="277142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Расширенный поиск и фильтры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30" y="321362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Акции и отзывы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32868" y="17303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220 Вольт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32868" y="232922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Профессиональный стиль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32868" y="277142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Удобная навигация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32868" y="321362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Адаптивность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2007" y="17303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ВсеИнструменты.ру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72007" y="232922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Поиск и фильтры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2007" y="277142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Оптовые закупки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72007" y="321362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Техническая поддержка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1734891-34BF-44B2-A86C-AD775B311478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D0118C0-28E0-4FFC-8560-B1015B054B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05" r="29051"/>
          <a:stretch/>
        </p:blipFill>
        <p:spPr>
          <a:xfrm>
            <a:off x="1501757" y="3857987"/>
            <a:ext cx="2977039" cy="380515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BD10BF0-A575-4ABC-8B5A-4D43BF9D6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073" y="3857986"/>
            <a:ext cx="4474732" cy="380515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B8B52D0-985B-4E1E-8E68-C05D67AB7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2259" y="3857987"/>
            <a:ext cx="4477612" cy="32334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859" y="272738"/>
            <a:ext cx="812482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Выбор программных средств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5859" y="15839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Visual Studio Code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5859" y="21828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Кроссплатформенный редактор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5859" y="26250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Поддержка множества языков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5859" y="30672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Интеграция с Git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61590" y="15839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Figma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61590" y="21828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Облачный сервис для прототипов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61590" y="26250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Командная работа в реальном времени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61590" y="30672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Интерактивные макеты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711104-256E-4918-9389-BB01071DA73A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C31E756-A4D9-43C4-A23E-764AC2306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57" y="3805846"/>
            <a:ext cx="2170642" cy="217582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750CB9F-D7C5-4553-AB19-09FABE04A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473" y="4114800"/>
            <a:ext cx="4677048" cy="1272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6164" y="247852"/>
            <a:ext cx="963235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Страница сайта – Главная страница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3089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Shape 4"/>
          <p:cNvSpPr/>
          <p:nvPr/>
        </p:nvSpPr>
        <p:spPr>
          <a:xfrm>
            <a:off x="4713803" y="33089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588817" y="1423708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Главная страница представляет собой шапку сайта, в которой содержится навигация, рекомендационные карточки с товаром, их ценой и описание. Так же на сайте присутствует подвал, в котором есть наименование компании, создатель и контакты для обратной связи.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80024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8781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0906" y="638627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1684660-27BD-44C1-B2F9-B41560CDE041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2B12809-1926-44D6-BB57-54DF8C20C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64" y="1423708"/>
            <a:ext cx="8129336" cy="4103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B2CE0E-A0D2-4DE3-B057-3AD9BAADBE45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F2EA63F-D2B1-4CA2-AF79-28BA0BF950A6}"/>
              </a:ext>
            </a:extLst>
          </p:cNvPr>
          <p:cNvSpPr/>
          <p:nvPr/>
        </p:nvSpPr>
        <p:spPr>
          <a:xfrm>
            <a:off x="418852" y="300587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написании всех страниц был использован только 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750" dirty="0" err="1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Части кода основной страницы: Шапка сайта.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FF2EBE-F922-4266-AB68-02CB4F9F3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52" y="2381103"/>
            <a:ext cx="5553850" cy="50775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F67BEA-25D8-497C-95CC-D96A898B0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965" y="104851"/>
            <a:ext cx="3953427" cy="782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47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A515D93-EC84-490A-8322-731B9B9AA5F4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564A73B-3A8C-4D93-9C6A-6B9466FE7FAD}"/>
              </a:ext>
            </a:extLst>
          </p:cNvPr>
          <p:cNvSpPr/>
          <p:nvPr/>
        </p:nvSpPr>
        <p:spPr>
          <a:xfrm>
            <a:off x="406164" y="247852"/>
            <a:ext cx="963235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Страница сайта – Каталог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55B0B0-B526-4505-A80F-95C5B6A1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870" y="1172815"/>
            <a:ext cx="8042660" cy="4065753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C8018883-08C4-40DE-80E5-FB4534E569C8}"/>
              </a:ext>
            </a:extLst>
          </p:cNvPr>
          <p:cNvSpPr/>
          <p:nvPr/>
        </p:nvSpPr>
        <p:spPr>
          <a:xfrm>
            <a:off x="3911752" y="6163531"/>
            <a:ext cx="68068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В каталоге имеется шапка и подвал. Различные карточки товара с краткой информацией и кнопкой перехода на страничку с выбранным товаром.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0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DFC5DD-D0E1-4FDF-A06D-5CEBAE95DD99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1A1C699-1433-4EE0-81F7-3BFD66AF92AD}"/>
              </a:ext>
            </a:extLst>
          </p:cNvPr>
          <p:cNvSpPr/>
          <p:nvPr/>
        </p:nvSpPr>
        <p:spPr>
          <a:xfrm>
            <a:off x="406164" y="247852"/>
            <a:ext cx="963235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Страница сайта – Карточка товара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0BE86D-5918-40B9-976A-FCA14AAA2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648" y="3343404"/>
            <a:ext cx="8637104" cy="4359422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9AC5EA62-1071-4DFA-BB7B-C9E3735A0793}"/>
              </a:ext>
            </a:extLst>
          </p:cNvPr>
          <p:cNvSpPr/>
          <p:nvPr/>
        </p:nvSpPr>
        <p:spPr>
          <a:xfrm>
            <a:off x="3911752" y="1512018"/>
            <a:ext cx="68068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В карточке товара имеется подробное описание товара, его характеристики и цена. Так же имеется кнопка покупки и оформления заказа выбранного продукта.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69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F871C1-9E92-49F8-A059-4957949BC806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14CD667-F79D-44B1-A7AC-61B95F6C9D56}"/>
              </a:ext>
            </a:extLst>
          </p:cNvPr>
          <p:cNvSpPr/>
          <p:nvPr/>
        </p:nvSpPr>
        <p:spPr>
          <a:xfrm>
            <a:off x="406164" y="247852"/>
            <a:ext cx="963235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Страница сайта – Вход и регистрация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FFA48D-B47B-4C1C-B106-7E9145E2E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64" y="1336987"/>
            <a:ext cx="5774635" cy="29146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96C22C-28A9-4FDD-8E65-BC91CC63C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64" y="4489948"/>
            <a:ext cx="5774635" cy="2920750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9C8E8668-C046-4581-ABDF-E111F0E9232D}"/>
              </a:ext>
            </a:extLst>
          </p:cNvPr>
          <p:cNvSpPr/>
          <p:nvPr/>
        </p:nvSpPr>
        <p:spPr>
          <a:xfrm>
            <a:off x="6843795" y="1343968"/>
            <a:ext cx="41985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страницах вход и регистрация находятся секции с формами для заполнения данных для входа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регистрации профиля.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странице вход – это почта и пароль.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странице регистрация – Имя, фамилия, почта, дата рождения, пароль, повторение пароля и ваше фото.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750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628D55-45CD-416A-AFAF-650D61128C7F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5B82194-64E3-4079-BEC5-A94646113A85}"/>
              </a:ext>
            </a:extLst>
          </p:cNvPr>
          <p:cNvSpPr/>
          <p:nvPr/>
        </p:nvSpPr>
        <p:spPr>
          <a:xfrm>
            <a:off x="406164" y="247852"/>
            <a:ext cx="963235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Страница сайта – Профиль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337822-F413-408B-B410-66BCB3D2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09" y="1736371"/>
            <a:ext cx="9163877" cy="4601090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1236B53D-B99D-4792-9BCF-4C4D18297484}"/>
              </a:ext>
            </a:extLst>
          </p:cNvPr>
          <p:cNvSpPr/>
          <p:nvPr/>
        </p:nvSpPr>
        <p:spPr>
          <a:xfrm>
            <a:off x="568697" y="1493055"/>
            <a:ext cx="41985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странице профиля изображена ваши данные которые были указаны во время регистрации. Так же имеются кнопки навигации для просмотра истории покупок, редактирования профиля, регистрации и входа в профиль.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910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E3454AC-B756-45D8-80CB-11D1C48C0AA0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32AD23A-80AB-4FC4-B86A-4166381D1223}"/>
              </a:ext>
            </a:extLst>
          </p:cNvPr>
          <p:cNvSpPr/>
          <p:nvPr/>
        </p:nvSpPr>
        <p:spPr>
          <a:xfrm>
            <a:off x="406164" y="247852"/>
            <a:ext cx="963235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Страница сайта – О нас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116285-2C65-4F09-A4FA-C1EB0C24E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374081"/>
            <a:ext cx="7722704" cy="3881484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A09AE3DE-A2B1-4BBC-B165-CABFE1587E3B}"/>
              </a:ext>
            </a:extLst>
          </p:cNvPr>
          <p:cNvSpPr/>
          <p:nvPr/>
        </p:nvSpPr>
        <p:spPr>
          <a:xfrm>
            <a:off x="3658304" y="1352992"/>
            <a:ext cx="68068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На странице сайта о нас имеется контактная информация и жалобы потребителя в которых указаны основная информация о компании и способ подачи жалобы.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59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6E10AF-0C80-48C8-B7E8-CA1A3A7510D8}"/>
              </a:ext>
            </a:extLst>
          </p:cNvPr>
          <p:cNvSpPr/>
          <p:nvPr/>
        </p:nvSpPr>
        <p:spPr>
          <a:xfrm>
            <a:off x="406164" y="247852"/>
            <a:ext cx="963235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Страница сайта – Корзина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5721B7D-2157-4F7B-8F02-315CC3BB5C97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AAB889-7A63-4E55-A1C1-625011F80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64" y="1292087"/>
            <a:ext cx="9125902" cy="4608556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F98B72D2-847B-4E21-838A-8A8BF1B31982}"/>
              </a:ext>
            </a:extLst>
          </p:cNvPr>
          <p:cNvSpPr/>
          <p:nvPr/>
        </p:nvSpPr>
        <p:spPr>
          <a:xfrm>
            <a:off x="9532066" y="1292087"/>
            <a:ext cx="41985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 сайта. В корзине вы можете наблюдать раннее добавленные вами продукты, у которых вы можете изменять количество или вовсе убрать из корзины.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141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133D93-5926-40C1-9719-B674EDC0B924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6B22E7F-F79E-4D62-B445-31E6EF228395}"/>
              </a:ext>
            </a:extLst>
          </p:cNvPr>
          <p:cNvSpPr/>
          <p:nvPr/>
        </p:nvSpPr>
        <p:spPr>
          <a:xfrm>
            <a:off x="406164" y="247852"/>
            <a:ext cx="963235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 err="1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Адаптив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FEC339-B860-43BD-BA9F-C0C21A93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30883"/>
            <a:ext cx="2447758" cy="268391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57BC9E1-5E7F-4390-BEE4-1F5BEB1B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536" y="4114800"/>
            <a:ext cx="2444422" cy="202165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0E483F-D2F4-4BE9-BDF4-AE39A6C71F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62" b="-1"/>
          <a:stretch/>
        </p:blipFill>
        <p:spPr>
          <a:xfrm>
            <a:off x="7318536" y="6136455"/>
            <a:ext cx="2444422" cy="178568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545B2F7-A088-450E-A7D1-C28C9CB7D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337" y="1430883"/>
            <a:ext cx="2406151" cy="23910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133DA58-F111-4CA1-B33E-9D2FCE4CF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3337" y="3821958"/>
            <a:ext cx="2444422" cy="469845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67743EA2-5A54-4C0F-B1AD-66CD35761C41}"/>
              </a:ext>
            </a:extLst>
          </p:cNvPr>
          <p:cNvSpPr/>
          <p:nvPr/>
        </p:nvSpPr>
        <p:spPr>
          <a:xfrm>
            <a:off x="676301" y="1473975"/>
            <a:ext cx="41985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страницы сайта адаптивны под различные виды разрешений.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 err="1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</a:t>
            </a: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выполнен с использованием тега 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@media.</a:t>
            </a:r>
            <a:endParaRPr lang="ru-RU" sz="1750" dirty="0">
              <a:solidFill>
                <a:srgbClr val="3838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примера адаптивного сайта под мобильные устройства взяты страницы: Главная страница сайта, О нас.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350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994291"/>
            <a:ext cx="719554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Заключение и результаты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17306" y="21565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Актуальность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173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Рост спроса на электротехнику и онлайн-продажи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017306" y="35591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Цель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17306" y="406729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Создание удобного и современного интернет-магазина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17306" y="4961692"/>
            <a:ext cx="330898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Практическая ценность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17306" y="546985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Опыт разработки и конкурентный анализ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017306" y="63642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Перспективы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17306" y="687240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Развитие и расширение ассортимента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7E31483-A0F0-488F-98D9-11503C590B99}"/>
              </a:ext>
            </a:extLst>
          </p:cNvPr>
          <p:cNvSpPr/>
          <p:nvPr/>
        </p:nvSpPr>
        <p:spPr>
          <a:xfrm>
            <a:off x="12324521" y="7255565"/>
            <a:ext cx="2196548" cy="894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598</Words>
  <Application>Microsoft Office PowerPoint</Application>
  <PresentationFormat>Произвольный</PresentationFormat>
  <Paragraphs>91</Paragraphs>
  <Slides>17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DM Sans Medium</vt:lpstr>
      <vt:lpstr>Times New Roman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Антон Глазырин</cp:lastModifiedBy>
  <cp:revision>16</cp:revision>
  <dcterms:created xsi:type="dcterms:W3CDTF">2025-05-15T23:09:37Z</dcterms:created>
  <dcterms:modified xsi:type="dcterms:W3CDTF">2026-04-02T21:51:59Z</dcterms:modified>
</cp:coreProperties>
</file>